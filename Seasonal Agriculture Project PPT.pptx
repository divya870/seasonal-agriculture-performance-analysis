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50" r:id="rId10"/>
    <p:sldId id="339" r:id="rId11"/>
    <p:sldId id="351" r:id="rId12"/>
    <p:sldId id="352" r:id="rId13"/>
    <p:sldId id="353" r:id="rId14"/>
    <p:sldId id="354" r:id="rId15"/>
    <p:sldId id="347" r:id="rId16"/>
    <p:sldId id="348" r:id="rId17"/>
    <p:sldId id="349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922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vya870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237" y="2674437"/>
            <a:ext cx="8803758" cy="125464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SEASONAL AGRICULTURE PERFORMANCE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5C72CC-6945-2176-C924-BA2B016E2124}"/>
              </a:ext>
            </a:extLst>
          </p:cNvPr>
          <p:cNvSpPr txBox="1"/>
          <p:nvPr/>
        </p:nvSpPr>
        <p:spPr>
          <a:xfrm>
            <a:off x="4646429" y="4495682"/>
            <a:ext cx="63795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+mj-lt"/>
              </a:rPr>
              <a:t>NAME                 :     DIVYA JAIN</a:t>
            </a:r>
          </a:p>
          <a:p>
            <a:r>
              <a:rPr lang="en-IN" sz="2000" b="1" dirty="0">
                <a:latin typeface="+mj-lt"/>
              </a:rPr>
              <a:t>COLLEGE NAME  :     YMCA New Delhi</a:t>
            </a:r>
          </a:p>
          <a:p>
            <a:r>
              <a:rPr lang="en-IN" sz="2000" b="1" dirty="0">
                <a:latin typeface="+mj-lt"/>
              </a:rPr>
              <a:t>AICTE STU ID      :     STU6a6b5aff7fa0a1785420543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5279" y="1856518"/>
            <a:ext cx="7431233" cy="414107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 algn="just"/>
            <a:r>
              <a:rPr lang="en-US" dirty="0"/>
              <a:t>However, raw agricultural data does not clearly explain how agricultural performance changes across seasons or what patterns can be observed in different seasonal conditions.</a:t>
            </a:r>
          </a:p>
          <a:p>
            <a:pPr algn="just"/>
            <a:r>
              <a:rPr lang="en-US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093" y="59208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696" y="1702677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959" y="80529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02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150C7F-2159-D302-4E9D-D7A41634C874}"/>
              </a:ext>
            </a:extLst>
          </p:cNvPr>
          <p:cNvSpPr txBox="1"/>
          <p:nvPr/>
        </p:nvSpPr>
        <p:spPr>
          <a:xfrm>
            <a:off x="960134" y="1899717"/>
            <a:ext cx="82877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Seasonal Agriculture Performance Analysis</a:t>
            </a:r>
            <a:r>
              <a:rPr lang="en-US" dirty="0"/>
              <a:t> is a data analytics project that examines agricultural activities across different seasons, crops, and regions.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project includes: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Data cleaning, preparation, and exploratory analysis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Analysis of seasonal crop production and yield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Study of rainfall, temperature, humidity, soil, and other environmental factors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Analysis of fertilizer, water, irrigation, and other resource usage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Comparison of crop, state/region, and economic performance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Statistical analysis, visualizations, insights, and recommendations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final outcome is a </a:t>
            </a:r>
            <a:r>
              <a:rPr lang="en-US" b="1" dirty="0"/>
              <a:t>data-driven understanding of seasonal agricultural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507382"/>
            <a:ext cx="8842664" cy="4669422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400" b="1" dirty="0"/>
              <a:t>Who Are the End Users?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The analysis can support different stakeholders involved in agricultural decision-making: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Farmers:</a:t>
            </a:r>
            <a:r>
              <a:rPr lang="en-US" sz="2400" dirty="0"/>
              <a:t> Understand seasonal performance and improve farming decisions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Government &amp; Agricultural Departments:</a:t>
            </a:r>
            <a:r>
              <a:rPr lang="en-US" sz="2400" dirty="0"/>
              <a:t> Support agricultural policies and planning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Agricultural Analysts:</a:t>
            </a:r>
            <a:r>
              <a:rPr lang="en-US" sz="2400" dirty="0"/>
              <a:t> Identify trends, patterns, and performance variations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Resource Planners:</a:t>
            </a:r>
            <a:r>
              <a:rPr lang="en-US" sz="2400" dirty="0"/>
              <a:t> Improve water, fertilizer, and irrigation planning</a:t>
            </a:r>
          </a:p>
          <a:p>
            <a:pPr algn="just">
              <a:lnSpc>
                <a:spcPct val="110000"/>
              </a:lnSpc>
            </a:pPr>
            <a:r>
              <a:rPr lang="en-US" sz="2400" b="1" dirty="0"/>
              <a:t>Researchers &amp; Agricultural Organizations:</a:t>
            </a:r>
            <a:r>
              <a:rPr lang="en-US" sz="2400" dirty="0"/>
              <a:t> Study environmental and seasonal impacts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008" y="434042"/>
            <a:ext cx="5347365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82148" y="1382765"/>
            <a:ext cx="9027702" cy="4836359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Technology / Tools:</a:t>
            </a:r>
          </a:p>
          <a:p>
            <a:r>
              <a:rPr lang="en-IN" b="1" dirty="0"/>
              <a:t>Python</a:t>
            </a:r>
            <a:r>
              <a:rPr lang="en-IN" dirty="0"/>
              <a:t> – Data cleaning, preprocessing and analysis </a:t>
            </a:r>
          </a:p>
          <a:p>
            <a:r>
              <a:rPr lang="en-IN" b="1" dirty="0"/>
              <a:t>Pandas</a:t>
            </a:r>
            <a:r>
              <a:rPr lang="en-IN" dirty="0"/>
              <a:t> – Data manipulation and analysis </a:t>
            </a:r>
          </a:p>
          <a:p>
            <a:r>
              <a:rPr lang="en-IN" b="1" dirty="0"/>
              <a:t>NumPy</a:t>
            </a:r>
            <a:r>
              <a:rPr lang="en-IN" dirty="0"/>
              <a:t> – Numerical operations </a:t>
            </a:r>
          </a:p>
          <a:p>
            <a:r>
              <a:rPr lang="en-IN" b="1" dirty="0"/>
              <a:t>Matplotlib</a:t>
            </a:r>
            <a:r>
              <a:rPr lang="en-IN" dirty="0"/>
              <a:t> – Data visualization </a:t>
            </a:r>
          </a:p>
          <a:p>
            <a:r>
              <a:rPr lang="en-IN" b="1" dirty="0"/>
              <a:t>Seaborn</a:t>
            </a:r>
            <a:r>
              <a:rPr lang="en-IN" dirty="0"/>
              <a:t> – Statistical visualization </a:t>
            </a:r>
          </a:p>
          <a:p>
            <a:r>
              <a:rPr lang="en-IN" b="1" dirty="0"/>
              <a:t>SciPy</a:t>
            </a:r>
            <a:r>
              <a:rPr lang="en-IN" dirty="0"/>
              <a:t> – Statistical  &amp; Correlation Analysis</a:t>
            </a:r>
          </a:p>
          <a:p>
            <a:r>
              <a:rPr lang="en-IN" b="1" dirty="0" err="1"/>
              <a:t>Jupyter</a:t>
            </a:r>
            <a:r>
              <a:rPr lang="en-IN" b="1" dirty="0"/>
              <a:t> Notebook / Google </a:t>
            </a:r>
            <a:r>
              <a:rPr lang="en-IN" b="1" dirty="0" err="1"/>
              <a:t>Colab</a:t>
            </a:r>
            <a:r>
              <a:rPr lang="en-IN" dirty="0"/>
              <a:t> – Development environment </a:t>
            </a:r>
          </a:p>
          <a:p>
            <a:r>
              <a:rPr lang="en-IN" b="1" dirty="0"/>
              <a:t>CSV</a:t>
            </a:r>
            <a:r>
              <a:rPr lang="en-IN" dirty="0"/>
              <a:t> – Dataset format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854" y="343611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8243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645" y="165561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 #1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81ECE-304D-C466-5FF6-F7E391A8D8DF}"/>
              </a:ext>
            </a:extLst>
          </p:cNvPr>
          <p:cNvSpPr txBox="1"/>
          <p:nvPr/>
        </p:nvSpPr>
        <p:spPr>
          <a:xfrm>
            <a:off x="675957" y="5352981"/>
            <a:ext cx="106833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Kharif</a:t>
            </a:r>
            <a:r>
              <a:rPr lang="en-US" sz="2400" dirty="0"/>
              <a:t> recorded the </a:t>
            </a:r>
            <a:r>
              <a:rPr lang="en-US" sz="2400" b="1" dirty="0"/>
              <a:t>highest average agricultural yield</a:t>
            </a:r>
            <a:r>
              <a:rPr lang="en-US" sz="2400" dirty="0"/>
              <a:t> among the analyzed seasons.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0B0C39-40E5-BDAE-197F-5102BA22B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8" t="5297" b="2545"/>
          <a:stretch/>
        </p:blipFill>
        <p:spPr>
          <a:xfrm>
            <a:off x="947578" y="1190505"/>
            <a:ext cx="9427779" cy="386402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532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8243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178" y="205287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 #2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87D11-CDFE-1205-8960-630139E31313}"/>
              </a:ext>
            </a:extLst>
          </p:cNvPr>
          <p:cNvSpPr txBox="1"/>
          <p:nvPr/>
        </p:nvSpPr>
        <p:spPr>
          <a:xfrm>
            <a:off x="1175763" y="5378621"/>
            <a:ext cx="98404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Kharif </a:t>
            </a:r>
            <a:r>
              <a:rPr lang="en-US" sz="2400" dirty="0"/>
              <a:t>recorded the </a:t>
            </a:r>
            <a:r>
              <a:rPr lang="en-US" sz="2400" b="1" dirty="0"/>
              <a:t>highest average profit</a:t>
            </a:r>
            <a:r>
              <a:rPr lang="en-US" sz="2400" dirty="0"/>
              <a:t>. One-way </a:t>
            </a:r>
            <a:r>
              <a:rPr lang="en-US" sz="2400" b="1" dirty="0"/>
              <a:t>ANOVA</a:t>
            </a:r>
            <a:r>
              <a:rPr lang="en-US" sz="2400" dirty="0"/>
              <a:t> confirmed that profit differences across seasons are statistically significant </a:t>
            </a:r>
            <a:r>
              <a:rPr lang="en-US" sz="2400" b="1" dirty="0"/>
              <a:t>(p = 1.71 × 10⁻¹⁵).</a:t>
            </a:r>
            <a:endParaRPr lang="en-IN" sz="2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AB8B00-2A68-B902-01F5-EE46DE5D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0" t="3356" r="990" b="1586"/>
          <a:stretch/>
        </p:blipFill>
        <p:spPr>
          <a:xfrm>
            <a:off x="302988" y="1190504"/>
            <a:ext cx="6570921" cy="3948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DB0B9D-4A41-D39A-02F7-0424706AF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610" y="1190504"/>
            <a:ext cx="4519521" cy="3948071"/>
          </a:xfrm>
          <a:prstGeom prst="rect">
            <a:avLst/>
          </a:prstGeom>
          <a:ln w="28575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8243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178" y="102910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 #3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81ECE-304D-C466-5FF6-F7E391A8D8DF}"/>
              </a:ext>
            </a:extLst>
          </p:cNvPr>
          <p:cNvSpPr txBox="1"/>
          <p:nvPr/>
        </p:nvSpPr>
        <p:spPr>
          <a:xfrm>
            <a:off x="675957" y="5489562"/>
            <a:ext cx="10104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Kharif</a:t>
            </a:r>
            <a:r>
              <a:rPr lang="en-US" sz="2400" dirty="0"/>
              <a:t> demonstrated the </a:t>
            </a:r>
            <a:r>
              <a:rPr lang="en-US" sz="2400" b="1" dirty="0"/>
              <a:t>highest average water-use efficiency</a:t>
            </a:r>
            <a:r>
              <a:rPr lang="en-US" sz="2400" dirty="0"/>
              <a:t>, indicating better output relative to water consumption.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934707-82C4-7D1A-7C20-92A5BC0DBB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3" b="19005"/>
          <a:stretch/>
        </p:blipFill>
        <p:spPr>
          <a:xfrm>
            <a:off x="542615" y="933907"/>
            <a:ext cx="10237701" cy="437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6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8243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178" y="102910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 #4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81ECE-304D-C466-5FF6-F7E391A8D8DF}"/>
              </a:ext>
            </a:extLst>
          </p:cNvPr>
          <p:cNvSpPr txBox="1"/>
          <p:nvPr/>
        </p:nvSpPr>
        <p:spPr>
          <a:xfrm>
            <a:off x="794629" y="5643962"/>
            <a:ext cx="10104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Crop performance </a:t>
            </a:r>
            <a:r>
              <a:rPr lang="en-US" sz="2400" dirty="0"/>
              <a:t>varies across seasons, with </a:t>
            </a:r>
            <a:r>
              <a:rPr lang="en-US" sz="2400" b="1" dirty="0"/>
              <a:t>Sugarcane</a:t>
            </a:r>
            <a:r>
              <a:rPr lang="en-US" sz="2400" dirty="0"/>
              <a:t> showing the </a:t>
            </a:r>
            <a:r>
              <a:rPr lang="en-US" sz="2400" b="1" dirty="0"/>
              <a:t>highest average </a:t>
            </a:r>
            <a:r>
              <a:rPr lang="en-US" sz="2400" dirty="0"/>
              <a:t>yield in the overall crop comparison.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DCC7C-6430-BBB1-461F-17AFBB68C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51" t="35491" b="990"/>
          <a:stretch/>
        </p:blipFill>
        <p:spPr>
          <a:xfrm>
            <a:off x="913303" y="1112152"/>
            <a:ext cx="9867015" cy="41991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54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8243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178" y="102910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 #5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81ECE-304D-C466-5FF6-F7E391A8D8DF}"/>
              </a:ext>
            </a:extLst>
          </p:cNvPr>
          <p:cNvSpPr txBox="1"/>
          <p:nvPr/>
        </p:nvSpPr>
        <p:spPr>
          <a:xfrm>
            <a:off x="1097965" y="5552719"/>
            <a:ext cx="94976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Punjab</a:t>
            </a:r>
            <a:r>
              <a:rPr lang="en-US" sz="2400" dirty="0"/>
              <a:t> recorded the </a:t>
            </a:r>
            <a:r>
              <a:rPr lang="en-US" sz="2400" b="1" dirty="0"/>
              <a:t>highest average profit</a:t>
            </a:r>
            <a:r>
              <a:rPr lang="en-US" sz="2400" dirty="0"/>
              <a:t>, highlighting significant regional variation in agricultural economic performance.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7E589C-8F22-051A-1D0B-CE5A1A7636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7" t="1" r="625" b="653"/>
          <a:stretch/>
        </p:blipFill>
        <p:spPr>
          <a:xfrm>
            <a:off x="996344" y="941378"/>
            <a:ext cx="9700930" cy="451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8243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178" y="102910"/>
            <a:ext cx="2981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 #6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81ECE-304D-C466-5FF6-F7E391A8D8DF}"/>
              </a:ext>
            </a:extLst>
          </p:cNvPr>
          <p:cNvSpPr txBox="1"/>
          <p:nvPr/>
        </p:nvSpPr>
        <p:spPr>
          <a:xfrm>
            <a:off x="556436" y="5061300"/>
            <a:ext cx="110791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scatter plot examines how </a:t>
            </a:r>
            <a:r>
              <a:rPr lang="en-US" sz="2400" b="1" dirty="0"/>
              <a:t>seed quality is associated with crop yield</a:t>
            </a:r>
            <a:r>
              <a:rPr lang="en-US" sz="2400" dirty="0"/>
              <a:t>, helping identify whether better seed quality corresponds to improved agricultural performance.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9EED9C-682C-AD2D-BCDF-41397DBFF0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3" r="883"/>
          <a:stretch/>
        </p:blipFill>
        <p:spPr>
          <a:xfrm>
            <a:off x="1883734" y="933907"/>
            <a:ext cx="8424530" cy="389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5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082" y="440210"/>
            <a:ext cx="4735798" cy="830997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062FB-6FB8-C710-875B-C281E5782A04}"/>
              </a:ext>
            </a:extLst>
          </p:cNvPr>
          <p:cNvSpPr txBox="1"/>
          <p:nvPr/>
        </p:nvSpPr>
        <p:spPr>
          <a:xfrm>
            <a:off x="540875" y="1357830"/>
            <a:ext cx="9424973" cy="419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project can be further enhanced by introducing advanced analytics and real-time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Predictive Modeling:</a:t>
            </a:r>
            <a:r>
              <a:rPr lang="en-US" dirty="0"/>
              <a:t> Predict crop yield and agricultural performance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Forecasting:</a:t>
            </a:r>
            <a:r>
              <a:rPr lang="en-US" dirty="0"/>
              <a:t> Forecast seasonal production, yield, and economic outcomes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Real-Time Weather Data:</a:t>
            </a:r>
            <a:r>
              <a:rPr lang="en-US" dirty="0"/>
              <a:t> Incorporate live rainfall, temperature, and weather information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Interactive Dashboard:</a:t>
            </a:r>
            <a:r>
              <a:rPr lang="en-US" dirty="0"/>
              <a:t> Develop a Power BI dashboard for real-time exploration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AI-Based Recommendations:</a:t>
            </a:r>
            <a:r>
              <a:rPr lang="en-US" dirty="0"/>
              <a:t> Provide recommendations for crops, irrigation, and resource usage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Larger Dataset:</a:t>
            </a:r>
            <a:r>
              <a:rPr lang="en-US" dirty="0"/>
              <a:t> Extend the analysis to more regions, crops, and multiple years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2120" y="422543"/>
            <a:ext cx="2993810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AC34A-B6A7-89F5-7F0D-7D27C45B1C58}"/>
              </a:ext>
            </a:extLst>
          </p:cNvPr>
          <p:cNvSpPr txBox="1"/>
          <p:nvPr/>
        </p:nvSpPr>
        <p:spPr>
          <a:xfrm>
            <a:off x="561108" y="2616036"/>
            <a:ext cx="9497291" cy="127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GitHub Link - </a:t>
            </a:r>
          </a:p>
          <a:p>
            <a:r>
              <a:rPr lang="en-IN" sz="2400" b="1" dirty="0">
                <a:hlinkClick r:id="rId3"/>
              </a:rPr>
              <a:t>https://github.com/Divya870/Seasonal-Agriculture-Performance-Analysis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33" y="193040"/>
            <a:ext cx="10193482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DATA VISUALIZATION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AA123E-993F-A664-B6F8-EC73DB92AE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51" r="243"/>
          <a:stretch/>
        </p:blipFill>
        <p:spPr>
          <a:xfrm>
            <a:off x="1077785" y="869835"/>
            <a:ext cx="9039618" cy="56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782792"/>
            <a:ext cx="10044936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946017" y="5406579"/>
            <a:ext cx="3609907" cy="11618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1900" dirty="0"/>
              <a:t>Name: Divya Jain</a:t>
            </a:r>
          </a:p>
          <a:p>
            <a:pPr algn="just"/>
            <a:r>
              <a:rPr lang="en-IN" dirty="0"/>
              <a:t>STU ID: STU6a6b5aff7fa0a1785420543</a:t>
            </a:r>
          </a:p>
          <a:p>
            <a:pPr algn="l"/>
            <a:r>
              <a:rPr lang="en-IN" dirty="0"/>
              <a:t>Internship ID: INTERNSHIP_17830691666a4779eecfe8a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692</TotalTime>
  <Words>599</Words>
  <Application>Microsoft Office PowerPoint</Application>
  <PresentationFormat>Widescreen</PresentationFormat>
  <Paragraphs>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</vt:lpstr>
      <vt:lpstr>WHO ARE THE END USERS?</vt:lpstr>
      <vt:lpstr>Technology Used</vt:lpstr>
      <vt:lpstr>RESULT #1 </vt:lpstr>
      <vt:lpstr>RESULT #2 </vt:lpstr>
      <vt:lpstr>RESULT #3 </vt:lpstr>
      <vt:lpstr>RESULT #4 </vt:lpstr>
      <vt:lpstr>RESULT #5 </vt:lpstr>
      <vt:lpstr>RESULT #6 </vt:lpstr>
      <vt:lpstr>Future scope</vt:lpstr>
      <vt:lpstr>GitHub Link</vt:lpstr>
      <vt:lpstr>VOIS Course Completion Certificate 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 J</cp:lastModifiedBy>
  <cp:revision>80</cp:revision>
  <dcterms:created xsi:type="dcterms:W3CDTF">2021-07-11T13:13:15Z</dcterms:created>
  <dcterms:modified xsi:type="dcterms:W3CDTF">2026-09-09T06:04:18Z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